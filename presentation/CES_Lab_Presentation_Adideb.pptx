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23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2B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EMBEDDED SYSTEMS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Arduino-based sound level meter on a 10-segment LED bar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22B5E3"/>
          </a:solidFill>
          <a:ln w="9525">
            <a:solidFill>
              <a:srgbClr val="22B5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89304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22B5E3"/>
          </a:solidFill>
          <a:ln w="9525">
            <a:solidFill>
              <a:srgbClr val="22B5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75688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22B5E3"/>
          </a:solidFill>
          <a:ln w="9525">
            <a:solidFill>
              <a:srgbClr val="22B5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62072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22B5E3"/>
          </a:solidFill>
          <a:ln w="9525">
            <a:solidFill>
              <a:srgbClr val="22B5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48456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22B5E3"/>
          </a:solidFill>
          <a:ln w="9525">
            <a:solidFill>
              <a:srgbClr val="22B5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34840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FF7900"/>
          </a:solidFill>
          <a:ln w="95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21224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FF7900"/>
          </a:solidFill>
          <a:ln w="95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07608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00263F"/>
          </a:solidFill>
          <a:ln w="9525">
            <a:solidFill>
              <a:srgbClr val="0E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793992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00263F"/>
          </a:solidFill>
          <a:ln w="9525">
            <a:solidFill>
              <a:srgbClr val="0E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580376" y="2606040"/>
            <a:ext cx="658368" cy="457200"/>
          </a:xfrm>
          <a:prstGeom prst="roundRect">
            <a:avLst>
              <a:gd name="adj" fmla="val 4000"/>
            </a:avLst>
          </a:prstGeom>
          <a:solidFill>
            <a:srgbClr val="00263F"/>
          </a:solidFill>
          <a:ln w="9525">
            <a:solidFill>
              <a:srgbClr val="0E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810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kern="0" spc="100" dirty="0">
                <a:solidFill>
                  <a:srgbClr val="8F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Adideb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Das,Solomiia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31775" y="3810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000" kern="0" spc="100" dirty="0">
                <a:solidFill>
                  <a:srgbClr val="8FA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00" dirty="0"/>
          </a:p>
          <a:p>
            <a:pPr algn="r">
              <a:lnSpc>
                <a:spcPct val="112000"/>
              </a:lnSpc>
            </a:pPr>
            <a:r>
              <a:rPr lang="en-IN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Ahmad </a:t>
            </a:r>
            <a:r>
              <a:rPr lang="en-IN" sz="15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Menbari,Andreas</a:t>
            </a:r>
            <a:r>
              <a:rPr lang="en-IN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Becher</a:t>
            </a:r>
            <a:endParaRPr lang="en-US" sz="15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61288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Description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61288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Approach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61288" y="3127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161288" y="3913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Setup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276088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Explanation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2322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276088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Faced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276088" y="3127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to the Problem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7720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276088" y="3913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F37939-3050-7E8B-B46E-D8D3868D1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TASK DESCRIPTION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Audio RMS Sound-level Meter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366135" y="1396438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RMS level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sound on a 10-segment LED bar.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>
              <a:solidFill>
                <a:srgbClr val="1B2A3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UNO has too few pins for the bar ;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registers are required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>
              <a:solidFill>
                <a:srgbClr val="1B2A3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>
              <a:solidFill>
                <a:srgbClr val="1B2A3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set sensitivity / relevant parameters.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>
              <a:solidFill>
                <a:srgbClr val="1B2A3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is computed over a buffer of audio samples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48615" y="132472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4355" y="139643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2B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DEFINITION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1495" y="1726339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900" b="1" baseline="-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8635" y="2467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over n samples in the audio buffer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8615" y="2982103"/>
            <a:ext cx="2834640" cy="1691640"/>
          </a:xfrm>
          <a:prstGeom prst="roundRect">
            <a:avLst>
              <a:gd name="adj" fmla="val 3750"/>
            </a:avLst>
          </a:prstGeom>
          <a:solidFill>
            <a:srgbClr val="E9EDF0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1495" y="3119263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USED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1495" y="3411871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</a:t>
            </a:r>
            <a:endParaRPr lang="en-US" sz="110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KY-038 sound sensor</a:t>
            </a:r>
            <a:endParaRPr lang="en-US" sz="110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10-segment LED bar</a:t>
            </a:r>
            <a:endParaRPr lang="en-US" sz="110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shift registers (74HC595)</a:t>
            </a:r>
            <a:endParaRPr lang="en-US" sz="110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47804A-D2D3-3E81-FA09-1CD1E3C4040B}"/>
                  </a:ext>
                </a:extLst>
              </p:cNvPr>
              <p:cNvSpPr txBox="1"/>
              <p:nvPr/>
            </p:nvSpPr>
            <p:spPr>
              <a:xfrm>
                <a:off x="1182125" y="1652437"/>
                <a:ext cx="773097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en-IN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IN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IN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47804A-D2D3-3E81-FA09-1CD1E3C40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125" y="1652437"/>
                <a:ext cx="773097" cy="818366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4F561BFE-D96C-2628-0A20-ECBE5300D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2688336" y="2414484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AB2BA67A-93A9-C85B-6F76-BB5A99AF3467}"/>
              </a:ext>
            </a:extLst>
          </p:cNvPr>
          <p:cNvSpPr/>
          <p:nvPr/>
        </p:nvSpPr>
        <p:spPr>
          <a:xfrm>
            <a:off x="4572000" y="2414484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DESIGN 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Non-Blocking Signal Chain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04672" y="1408175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" y="1408175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KY-038 mic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A0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39" y="1591056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88336" y="1408175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88336" y="1408175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8 kHz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prescaler ÷32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61103" y="1591056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408175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1408175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High-pass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removal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44767" y="1591056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55664" y="1408175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55664" y="1408175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128-sample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 rot="10800000">
            <a:off x="2377439" y="2639061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2414484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Peak-hold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1s + decay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 rot="10800000">
            <a:off x="4278620" y="2639061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 rot="10800000">
            <a:off x="6127249" y="2638042"/>
            <a:ext cx="328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0857228-7CAB-5BC5-3B3D-CBCC5441F2DF}"/>
              </a:ext>
            </a:extLst>
          </p:cNvPr>
          <p:cNvGrpSpPr/>
          <p:nvPr/>
        </p:nvGrpSpPr>
        <p:grpSpPr>
          <a:xfrm>
            <a:off x="804672" y="2414484"/>
            <a:ext cx="1661394" cy="822959"/>
            <a:chOff x="6153912" y="2715768"/>
            <a:chExt cx="1572768" cy="658368"/>
          </a:xfrm>
        </p:grpSpPr>
        <p:sp>
          <p:nvSpPr>
            <p:cNvPr id="28" name="Shape 26"/>
            <p:cNvSpPr/>
            <p:nvPr/>
          </p:nvSpPr>
          <p:spPr>
            <a:xfrm>
              <a:off x="6153912" y="2715768"/>
              <a:ext cx="1572768" cy="658368"/>
            </a:xfrm>
            <a:prstGeom prst="roundRect">
              <a:avLst>
                <a:gd name="adj" fmla="val 8333"/>
              </a:avLst>
            </a:prstGeom>
            <a:solidFill>
              <a:srgbClr val="003358"/>
            </a:solidFill>
            <a:ln w="12700">
              <a:solidFill>
                <a:srgbClr val="003358"/>
              </a:solidFill>
              <a:prstDash val="solid"/>
            </a:ln>
            <a:effectLst>
              <a:outerShdw blurRad="50800" dist="25400" dir="5400000" algn="bl" rotWithShape="0">
                <a:srgbClr val="9AA7B0">
                  <a:alpha val="2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7"/>
            <p:cNvSpPr/>
            <p:nvPr/>
          </p:nvSpPr>
          <p:spPr>
            <a:xfrm>
              <a:off x="6153912" y="2715768"/>
              <a:ext cx="1572768" cy="6583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10-LED bar</a:t>
              </a:r>
              <a:endParaRPr lang="en-US" sz="110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level display</a:t>
              </a:r>
              <a:endParaRPr lang="en-US" sz="110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502920" y="3758184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3758184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Serial control  </a:t>
            </a: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'+' / '−’  to adjust the sensitivity live.  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telemetry  </a:t>
            </a: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/ peak / DC / mic-health streamed to a browser monitor at 115200 baud.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5D942F01-F7E9-9304-7DB3-49A17E5729EF}"/>
              </a:ext>
            </a:extLst>
          </p:cNvPr>
          <p:cNvSpPr/>
          <p:nvPr/>
        </p:nvSpPr>
        <p:spPr>
          <a:xfrm rot="5400000">
            <a:off x="7052280" y="2201014"/>
            <a:ext cx="468161" cy="28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2C9E72-7C4B-AE64-31AD-98E30D06CDF1}"/>
              </a:ext>
            </a:extLst>
          </p:cNvPr>
          <p:cNvSpPr txBox="1"/>
          <p:nvPr/>
        </p:nvSpPr>
        <p:spPr>
          <a:xfrm>
            <a:off x="2199111" y="2638042"/>
            <a:ext cx="2639843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74HC595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registers</a:t>
            </a:r>
            <a:endParaRPr lang="en-US" sz="12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1DC2A8BB-06D6-92A0-BE88-9C30B9A93584}"/>
              </a:ext>
            </a:extLst>
          </p:cNvPr>
          <p:cNvSpPr/>
          <p:nvPr/>
        </p:nvSpPr>
        <p:spPr>
          <a:xfrm>
            <a:off x="6455664" y="2414484"/>
            <a:ext cx="1661394" cy="822959"/>
          </a:xfrm>
          <a:prstGeom prst="roundRect">
            <a:avLst>
              <a:gd name="adj" fmla="val 8333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6455664" y="2414484"/>
            <a:ext cx="1661394" cy="822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map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sensitivity → 0–10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B09484-0EC5-56FE-DB2C-89FFF0E50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APPLICATION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finished meter does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19327" y="1170432"/>
            <a:ext cx="432175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Louder sound lights more LEDs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 live bar that tracks the RMS level.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marker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floats above the bar, holds ~2 s, then falls back to 0.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is adjustable live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serial: '+' more, '−' less, in steps of 10.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Web-Serial monitor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mirrors the bar and shows RMS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4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14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mic-health check</a:t>
            </a:r>
            <a:r>
              <a:rPr lang="en-US" sz="14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reports signal alive / quiet / mic dead from the raw stream.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E307BDA-A4EB-6506-25B8-DEB2D48D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43FA6B7-B2D2-FF9E-F143-39DA765A01A6}"/>
              </a:ext>
            </a:extLst>
          </p:cNvPr>
          <p:cNvGrpSpPr/>
          <p:nvPr/>
        </p:nvGrpSpPr>
        <p:grpSpPr>
          <a:xfrm>
            <a:off x="502920" y="1170432"/>
            <a:ext cx="3396344" cy="3550159"/>
            <a:chOff x="5570806" y="1353312"/>
            <a:chExt cx="3070274" cy="3127248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1E92774B-7F90-91B5-8D84-62C1201619B5}"/>
                </a:ext>
              </a:extLst>
            </p:cNvPr>
            <p:cNvSpPr/>
            <p:nvPr/>
          </p:nvSpPr>
          <p:spPr>
            <a:xfrm>
              <a:off x="5570806" y="1353312"/>
              <a:ext cx="3070274" cy="3127248"/>
            </a:xfrm>
            <a:prstGeom prst="roundRect">
              <a:avLst>
                <a:gd name="adj" fmla="val 2462"/>
              </a:avLst>
            </a:prstGeom>
            <a:solidFill>
              <a:srgbClr val="0E1116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A4DD2DBB-5A6B-12F3-0D49-34CEA94A35E7}"/>
                </a:ext>
              </a:extLst>
            </p:cNvPr>
            <p:cNvSpPr/>
            <p:nvPr/>
          </p:nvSpPr>
          <p:spPr>
            <a:xfrm>
              <a:off x="5852160" y="1572768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b="1" kern="0" spc="100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VU METER · SERIAL MONITOR</a:t>
              </a:r>
              <a:endParaRPr lang="en-US" sz="950" dirty="0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FC252863-0619-1350-637C-496494F43421}"/>
                </a:ext>
              </a:extLst>
            </p:cNvPr>
            <p:cNvSpPr/>
            <p:nvPr/>
          </p:nvSpPr>
          <p:spPr>
            <a:xfrm>
              <a:off x="5852160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22B5E3"/>
            </a:solidFill>
            <a:ln w="9525">
              <a:solidFill>
                <a:srgbClr val="22B5E3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D31C5EAC-81DC-A598-7304-D686153959D5}"/>
                </a:ext>
              </a:extLst>
            </p:cNvPr>
            <p:cNvSpPr/>
            <p:nvPr/>
          </p:nvSpPr>
          <p:spPr>
            <a:xfrm>
              <a:off x="6117336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22B5E3"/>
            </a:solidFill>
            <a:ln w="9525">
              <a:solidFill>
                <a:srgbClr val="22B5E3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3EE29054-9F2A-8403-7E6C-59AA8666D6B7}"/>
                </a:ext>
              </a:extLst>
            </p:cNvPr>
            <p:cNvSpPr/>
            <p:nvPr/>
          </p:nvSpPr>
          <p:spPr>
            <a:xfrm>
              <a:off x="6382512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22B5E3"/>
            </a:solidFill>
            <a:ln w="9525">
              <a:solidFill>
                <a:srgbClr val="22B5E3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4934163D-AB73-5B8C-8A54-1F421B273B77}"/>
                </a:ext>
              </a:extLst>
            </p:cNvPr>
            <p:cNvSpPr/>
            <p:nvPr/>
          </p:nvSpPr>
          <p:spPr>
            <a:xfrm>
              <a:off x="6647688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22B5E3"/>
            </a:solidFill>
            <a:ln w="9525">
              <a:solidFill>
                <a:srgbClr val="22B5E3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6794B83E-051E-2C56-05D5-E4BFBC16BBD6}"/>
                </a:ext>
              </a:extLst>
            </p:cNvPr>
            <p:cNvSpPr/>
            <p:nvPr/>
          </p:nvSpPr>
          <p:spPr>
            <a:xfrm>
              <a:off x="6912864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22B5E3"/>
            </a:solidFill>
            <a:ln w="9525">
              <a:solidFill>
                <a:srgbClr val="22B5E3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9DD72AF3-6746-8AA4-6863-1353D1D22C28}"/>
                </a:ext>
              </a:extLst>
            </p:cNvPr>
            <p:cNvSpPr/>
            <p:nvPr/>
          </p:nvSpPr>
          <p:spPr>
            <a:xfrm>
              <a:off x="7178040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FF7900"/>
            </a:solidFill>
            <a:ln w="9525">
              <a:solidFill>
                <a:srgbClr val="FF7900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315D09FD-B4A7-A740-BF9A-F5D2B88C6E04}"/>
                </a:ext>
              </a:extLst>
            </p:cNvPr>
            <p:cNvSpPr/>
            <p:nvPr/>
          </p:nvSpPr>
          <p:spPr>
            <a:xfrm>
              <a:off x="7443216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FF7900"/>
            </a:solidFill>
            <a:ln w="9525">
              <a:solidFill>
                <a:srgbClr val="FF7900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921413ED-DAE6-029D-43F0-D172D4FFCB0E}"/>
                </a:ext>
              </a:extLst>
            </p:cNvPr>
            <p:cNvSpPr/>
            <p:nvPr/>
          </p:nvSpPr>
          <p:spPr>
            <a:xfrm>
              <a:off x="7708392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00263F"/>
            </a:solidFill>
            <a:ln w="9525">
              <a:solidFill>
                <a:srgbClr val="0E3A57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B4CB7204-575C-AFD9-68C4-D8AB65FC0214}"/>
                </a:ext>
              </a:extLst>
            </p:cNvPr>
            <p:cNvSpPr/>
            <p:nvPr/>
          </p:nvSpPr>
          <p:spPr>
            <a:xfrm>
              <a:off x="7973568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00263F"/>
            </a:solidFill>
            <a:ln w="9525">
              <a:solidFill>
                <a:srgbClr val="0E3A57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67E790F6-ECE6-8DA1-3DB5-BB43A04F159E}"/>
                </a:ext>
              </a:extLst>
            </p:cNvPr>
            <p:cNvSpPr/>
            <p:nvPr/>
          </p:nvSpPr>
          <p:spPr>
            <a:xfrm>
              <a:off x="8238744" y="1938528"/>
              <a:ext cx="219456" cy="384048"/>
            </a:xfrm>
            <a:prstGeom prst="roundRect">
              <a:avLst>
                <a:gd name="adj" fmla="val 8333"/>
              </a:avLst>
            </a:prstGeom>
            <a:solidFill>
              <a:srgbClr val="00263F"/>
            </a:solidFill>
            <a:ln w="9525">
              <a:solidFill>
                <a:srgbClr val="0E3A57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D87061E3-B879-692F-E74A-9B25E6FF9315}"/>
                </a:ext>
              </a:extLst>
            </p:cNvPr>
            <p:cNvSpPr/>
            <p:nvPr/>
          </p:nvSpPr>
          <p:spPr>
            <a:xfrm>
              <a:off x="5852160" y="2514600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132C7A18-7F7D-1889-2870-3ACBA0CF96FF}"/>
                </a:ext>
              </a:extLst>
            </p:cNvPr>
            <p:cNvSpPr/>
            <p:nvPr/>
          </p:nvSpPr>
          <p:spPr>
            <a:xfrm>
              <a:off x="5852160" y="2514600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RMS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86.4</a:t>
              </a:r>
              <a:endParaRPr lang="en-US" sz="70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7E4C49A4-BBD4-8D28-9030-FC715FD56243}"/>
                </a:ext>
              </a:extLst>
            </p:cNvPr>
            <p:cNvSpPr/>
            <p:nvPr/>
          </p:nvSpPr>
          <p:spPr>
            <a:xfrm>
              <a:off x="6757416" y="2514600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C3516EF3-2A87-6436-7925-974EC89AA0D2}"/>
                </a:ext>
              </a:extLst>
            </p:cNvPr>
            <p:cNvSpPr/>
            <p:nvPr/>
          </p:nvSpPr>
          <p:spPr>
            <a:xfrm>
              <a:off x="6757416" y="2514600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PEAK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9.0</a:t>
              </a:r>
              <a:endParaRPr lang="en-US" sz="700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854A72BA-5863-4FD0-4EBD-3C55A3C22E56}"/>
                </a:ext>
              </a:extLst>
            </p:cNvPr>
            <p:cNvSpPr/>
            <p:nvPr/>
          </p:nvSpPr>
          <p:spPr>
            <a:xfrm>
              <a:off x="7662672" y="2514600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2A100306-2E5F-0501-B824-443E4C8060FF}"/>
                </a:ext>
              </a:extLst>
            </p:cNvPr>
            <p:cNvSpPr/>
            <p:nvPr/>
          </p:nvSpPr>
          <p:spPr>
            <a:xfrm>
              <a:off x="7662672" y="2514600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LEDs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7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7A1D3200-2A1D-9D5C-EBA4-E90FD97490DE}"/>
                </a:ext>
              </a:extLst>
            </p:cNvPr>
            <p:cNvSpPr/>
            <p:nvPr/>
          </p:nvSpPr>
          <p:spPr>
            <a:xfrm>
              <a:off x="5852160" y="3081528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A0B0EE4D-F872-D21F-64AB-B10DA3369B94}"/>
                </a:ext>
              </a:extLst>
            </p:cNvPr>
            <p:cNvSpPr/>
            <p:nvPr/>
          </p:nvSpPr>
          <p:spPr>
            <a:xfrm>
              <a:off x="5852160" y="3081528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DC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512</a:t>
              </a:r>
              <a:endParaRPr lang="en-US" sz="700" dirty="0"/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C0FA5F33-6827-E649-59E8-9C59685F03EE}"/>
                </a:ext>
              </a:extLst>
            </p:cNvPr>
            <p:cNvSpPr/>
            <p:nvPr/>
          </p:nvSpPr>
          <p:spPr>
            <a:xfrm>
              <a:off x="6757416" y="3081528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5336CE95-99A8-B499-E1B5-32CD2D7BA86B}"/>
                </a:ext>
              </a:extLst>
            </p:cNvPr>
            <p:cNvSpPr/>
            <p:nvPr/>
          </p:nvSpPr>
          <p:spPr>
            <a:xfrm>
              <a:off x="6757416" y="3081528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PK-PK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148</a:t>
              </a:r>
              <a:endParaRPr lang="en-US" sz="700" dirty="0"/>
            </a:p>
          </p:txBody>
        </p:sp>
        <p:sp>
          <p:nvSpPr>
            <p:cNvPr id="28" name="Shape 25">
              <a:extLst>
                <a:ext uri="{FF2B5EF4-FFF2-40B4-BE49-F238E27FC236}">
                  <a16:creationId xmlns:a16="http://schemas.microsoft.com/office/drawing/2014/main" id="{C17AE750-C727-8687-150E-716820CE520F}"/>
                </a:ext>
              </a:extLst>
            </p:cNvPr>
            <p:cNvSpPr/>
            <p:nvPr/>
          </p:nvSpPr>
          <p:spPr>
            <a:xfrm>
              <a:off x="7662672" y="3081528"/>
              <a:ext cx="795528" cy="457200"/>
            </a:xfrm>
            <a:prstGeom prst="roundRect">
              <a:avLst>
                <a:gd name="adj" fmla="val 8000"/>
              </a:avLst>
            </a:prstGeom>
            <a:solidFill>
              <a:srgbClr val="1C2530"/>
            </a:solidFill>
            <a:ln w="12700">
              <a:solidFill>
                <a:srgbClr val="2A3441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380C3E6B-8AD4-83CF-FC4C-7D7005986339}"/>
                </a:ext>
              </a:extLst>
            </p:cNvPr>
            <p:cNvSpPr/>
            <p:nvPr/>
          </p:nvSpPr>
          <p:spPr>
            <a:xfrm>
              <a:off x="7662672" y="3081528"/>
              <a:ext cx="79552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90000"/>
                </a:lnSpc>
                <a:buNone/>
              </a:pPr>
              <a:r>
                <a:rPr lang="en-US" sz="700" dirty="0">
                  <a:solidFill>
                    <a:srgbClr val="8B98A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sensitivity
</a:t>
              </a:r>
              <a:r>
                <a:rPr lang="en-US" sz="1300" b="1" dirty="0">
                  <a:solidFill>
                    <a:srgbClr val="E6ED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120</a:t>
              </a:r>
              <a:endParaRPr lang="en-US" sz="700" dirty="0"/>
            </a:p>
          </p:txBody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BE24DBFB-2FD4-5C94-E95B-35F56F8AC039}"/>
                </a:ext>
              </a:extLst>
            </p:cNvPr>
            <p:cNvSpPr/>
            <p:nvPr/>
          </p:nvSpPr>
          <p:spPr>
            <a:xfrm>
              <a:off x="5852160" y="4096512"/>
              <a:ext cx="2606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3FB9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● signal alive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HARDWARE 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cascaded shift registers drive 10 LEDs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707476" y="1408176"/>
            <a:ext cx="3977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KY-038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analog out → </a:t>
            </a:r>
            <a:r>
              <a:rPr lang="en-US" sz="135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3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cs typeface="Arial" pitchFamily="34" charset="-120"/>
              </a:rPr>
              <a:t>Arduino → U1</a:t>
            </a:r>
          </a:p>
          <a:p>
            <a:pPr lvl="1">
              <a:lnSpc>
                <a:spcPct val="102000"/>
              </a:lnSpc>
              <a:buSzPct val="100000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D11→SER, </a:t>
            </a:r>
          </a:p>
          <a:p>
            <a:pPr lvl="1">
              <a:lnSpc>
                <a:spcPct val="102000"/>
              </a:lnSpc>
              <a:buSzPct val="100000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D13→SRCLK, </a:t>
            </a:r>
          </a:p>
          <a:p>
            <a:pPr lvl="1">
              <a:lnSpc>
                <a:spcPct val="102000"/>
              </a:lnSpc>
              <a:buSzPct val="100000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D10→RCLK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3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Cascade: </a:t>
            </a: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QH′ → U2 SER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3 pins now drive 16 outputs.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3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Q0–Q7 (U1) + Q8–Q9 (U2)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10 LEDs, each via a 330 Ω resistor to GND.</a:t>
            </a:r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endParaRPr lang="en-US" sz="13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35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r>
              <a:rPr lang="en-US" sz="13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UNO lacks 10 spare output pins, so the bar is serialised.</a:t>
            </a:r>
            <a:endParaRPr lang="en-US" sz="1350" dirty="0"/>
          </a:p>
        </p:txBody>
      </p:sp>
      <p:pic>
        <p:nvPicPr>
          <p:cNvPr id="6" name="Image 0" descr="/mnt/user-data/uploads/circuit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299" y="1258259"/>
            <a:ext cx="4434841" cy="35697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206807-39B9-D876-79A0-5EEBC85E8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FIRMWARE — EXECUTION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three independent clocks</a:t>
            </a:r>
            <a:endParaRPr lang="en-US" sz="29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01F203-AFF6-CF5D-5093-64654E2F6607}"/>
              </a:ext>
            </a:extLst>
          </p:cNvPr>
          <p:cNvGrpSpPr/>
          <p:nvPr/>
        </p:nvGrpSpPr>
        <p:grpSpPr>
          <a:xfrm>
            <a:off x="3611880" y="1529810"/>
            <a:ext cx="2286000" cy="822960"/>
            <a:chOff x="502920" y="1463040"/>
            <a:chExt cx="2286000" cy="822960"/>
          </a:xfrm>
        </p:grpSpPr>
        <p:sp>
          <p:nvSpPr>
            <p:cNvPr id="4" name="Shape 2"/>
            <p:cNvSpPr/>
            <p:nvPr/>
          </p:nvSpPr>
          <p:spPr>
            <a:xfrm>
              <a:off x="502920" y="1463040"/>
              <a:ext cx="2286000" cy="566928"/>
            </a:xfrm>
            <a:prstGeom prst="roundRect">
              <a:avLst>
                <a:gd name="adj" fmla="val 9677"/>
              </a:avLst>
            </a:prstGeom>
            <a:solidFill>
              <a:srgbClr val="20455F"/>
            </a:solidFill>
            <a:ln w="12700">
              <a:solidFill>
                <a:srgbClr val="20455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502920" y="1463040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setup()</a:t>
              </a:r>
              <a:endParaRPr lang="en-US" sz="125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AEC6D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runs once · fast ADC · pins</a:t>
              </a:r>
              <a:endParaRPr lang="en-US" sz="12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417320" y="201168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79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▾</a:t>
              </a:r>
              <a:endParaRPr lang="en-US" sz="1500" dirty="0"/>
            </a:p>
          </p:txBody>
        </p:sp>
      </p:grpSp>
      <p:sp>
        <p:nvSpPr>
          <p:cNvPr id="7" name="Shape 5"/>
          <p:cNvSpPr/>
          <p:nvPr/>
        </p:nvSpPr>
        <p:spPr>
          <a:xfrm>
            <a:off x="502920" y="2426779"/>
            <a:ext cx="8138160" cy="1993392"/>
          </a:xfrm>
          <a:prstGeom prst="roundRect">
            <a:avLst>
              <a:gd name="adj" fmla="val 4587"/>
            </a:avLst>
          </a:prstGeom>
          <a:solidFill>
            <a:srgbClr val="F7F9FB"/>
          </a:solidFill>
          <a:ln w="12700">
            <a:solidFill>
              <a:srgbClr val="00335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loop()</a:t>
            </a:r>
            <a:r>
              <a:rPr lang="en-US" sz="110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runs forever ; every block checked each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876740"/>
            <a:ext cx="2286000" cy="969264"/>
          </a:xfrm>
          <a:prstGeom prst="roundRect">
            <a:avLst>
              <a:gd name="adj" fmla="val 5660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645920" y="29681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0" y="29681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2059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33272" y="34436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'+' / '−' → sensitivity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11880" y="2876740"/>
            <a:ext cx="2286000" cy="969264"/>
          </a:xfrm>
          <a:prstGeom prst="roundRect">
            <a:avLst>
              <a:gd name="adj" fmla="val 5660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97680" y="29681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97680" y="29681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kHz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32059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+ DSP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85032" y="34436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analogRead → high-pass → RMS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2876740"/>
            <a:ext cx="2286000" cy="969264"/>
          </a:xfrm>
          <a:prstGeom prst="roundRect">
            <a:avLst>
              <a:gd name="adj" fmla="val 5660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  <a:effectLst>
            <a:outerShdw blurRad="508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296818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49440" y="29681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1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Hz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32059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+ output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36792" y="34436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→ peak-hold → </a:t>
            </a:r>
            <a:r>
              <a:rPr lang="en-US" sz="950" dirty="0" err="1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writeLeds</a:t>
            </a:r>
            <a:r>
              <a:rPr lang="en-US" sz="950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31967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97880" y="31967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06640" y="3846004"/>
            <a:ext cx="0" cy="263271"/>
          </a:xfrm>
          <a:prstGeom prst="line">
            <a:avLst/>
          </a:prstGeom>
          <a:noFill/>
          <a:ln w="222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103120" y="4109275"/>
            <a:ext cx="5303520" cy="0"/>
          </a:xfrm>
          <a:prstGeom prst="line">
            <a:avLst/>
          </a:prstGeom>
          <a:noFill/>
          <a:ln w="222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965960" y="376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03120" y="40837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repeats every 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568D3739-D5B6-912B-38C8-9909FE402143}"/>
              </a:ext>
            </a:extLst>
          </p:cNvPr>
          <p:cNvSpPr/>
          <p:nvPr/>
        </p:nvSpPr>
        <p:spPr>
          <a:xfrm>
            <a:off x="2103120" y="3919156"/>
            <a:ext cx="0" cy="190119"/>
          </a:xfrm>
          <a:prstGeom prst="line">
            <a:avLst/>
          </a:prstGeom>
          <a:noFill/>
          <a:ln w="222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F8F79AA-4548-3E6C-FBEE-A11C00FA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FIRMWARE : STRUCTURE &amp; OUTPUT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setup() and writeLeds()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91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writeLeds(pattern)</a:t>
            </a:r>
            <a:r>
              <a:rPr lang="en-US" sz="1400" i="1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: push 16 bits to the LED bar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 LOW → </a:t>
            </a:r>
            <a:r>
              <a:rPr lang="en-US" sz="12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shiftOut() high byte then low byte, MSB-first</a:t>
            </a: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latch HIGH.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byte cascades into U2 (Q8–Q9), second lands in U1 (Q0–Q7): bit i = LED i+1.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31236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1592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setup()</a:t>
            </a:r>
            <a:r>
              <a:rPr lang="en-US" sz="1400" i="1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: one-time initialisation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88436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three shift-register pins as outputs.</a:t>
            </a:r>
            <a:endParaRPr lang="en-US" sz="1250" dirty="0"/>
          </a:p>
          <a:p>
            <a:pPr marL="203200" indent="-203200">
              <a:lnSpc>
                <a:spcPct val="102000"/>
              </a:lnSpc>
              <a:buSzPct val="100000"/>
              <a:buChar char="▪"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up the ADC: </a:t>
            </a:r>
            <a:r>
              <a:rPr lang="en-US" sz="125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ADCSRA prescaler → ÷32</a:t>
            </a: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an analogRead fits inside the 8 kHz budget.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at 115200, clear the sample buffer, blank the bar, seed the timers.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728E7-8E6C-EFA3-6EC1-49DC93340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FIRMWARE : SAMPLING &amp; DSP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loop(): sample → high-pass → RMS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Fixed-rate sampling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A0 every 125 µs (8 kHz), scheduled off micros().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loop falls &gt; 4 periods behind, resync instead of chasing ; keeps timing stable.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96312"/>
            <a:ext cx="8138160" cy="1033272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5877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removal = high-pass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dcEstimate is a fixed-point (Q8) leaky integrator: dcEstimate += (raw−dcEstimate) &gt;&gt; 9.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= raw − dcEstimate strips the ~2.5 V bias and low-frequency rumble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664634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75607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RMS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04868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sum-of-squares over 128 samples: subtract the oldest², add the newest² ; O(1) per sample.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= √(sumSquares / 128), recomputed each display frame.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39A07C-1F50-79ED-5AFE-3298E73EE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FIRMWARE - DISPLAY, UI &amp; TELEMETRY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loop(): level → peak-hold → serial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mapping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= RMS × 10 / sensitivity, clamped 0–10 and rounded to a bar height.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gets one bit set per lit LED, then handed to writeLeds().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4137" y="2496312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5877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Peak-hold with decay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peak snaps the marker up and freezes it for 2000 ms.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hold it decays; a guard stops it sinking into the live bar.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666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UI + telemetry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9593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'+' lowers sensitivity ,'−' raises it - steps of 10, echoed back.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250 ms it prints RMS, sensitivity, LEDs + a health tag (alive / quiet / mic dead).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490607-E243-F7B8-539B-7EB4AB2EF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PROBLEMS FACED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signal and the clock fight back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4088" y="1682496"/>
            <a:ext cx="3506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DC bias &amp; rumble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029968"/>
            <a:ext cx="3506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KY-038 sits on a ~2.5 V bias (ADC ≈ 512). RMS of the raw signal measures the bias, not the sound ; the bar pins near full and slow rumble / handling noise trips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32020" y="1554480"/>
            <a:ext cx="3909060" cy="1371600"/>
          </a:xfrm>
          <a:prstGeom prst="roundRect">
            <a:avLst>
              <a:gd name="adj" fmla="val 4000"/>
            </a:avLst>
          </a:prstGeom>
          <a:solidFill>
            <a:srgbClr val="003358"/>
          </a:solidFill>
          <a:ln w="12700">
            <a:solidFill>
              <a:srgbClr val="00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3188" y="1682496"/>
            <a:ext cx="3506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B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ADC too slow for 8 kHz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3188" y="2029968"/>
            <a:ext cx="3506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8 kHz each sample has a 125 µs budget, but a default analogRead() takes ~112 µs. That leaves almost no time for the RMS math and the display update.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6C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effect:  </a:t>
            </a:r>
            <a:r>
              <a:rPr lang="en-US" sz="130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both fixes the meter is either stuck reading its own DC offset, or it can't keep a steady sample rate ; so the displayed level no longer reflects real loudness.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E4244B1-840B-9C74-97B0-5EF14F9FAD68}"/>
              </a:ext>
            </a:extLst>
          </p:cNvPr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46AF97-6107-4914-46B1-009244A1A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APPROACH TO THE PROBLEMS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fixes, both in the sample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09060" cy="233172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4088" y="1700784"/>
            <a:ext cx="3506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high-pass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2029968"/>
            <a:ext cx="3506724" cy="384048"/>
          </a:xfrm>
          <a:prstGeom prst="roundRect">
            <a:avLst>
              <a:gd name="adj" fmla="val 9524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4088" y="2029968"/>
            <a:ext cx="3506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dcEstimate += (raw−dc) &gt;&gt;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3506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IIR leaky integrator tracks the DC level; subtracting it high-passes every sample.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the bias and the low-frequency rumble </a:t>
            </a:r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Fixed-point (Q8), so no floats in the hot sample path.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32020" y="1554480"/>
            <a:ext cx="3909060" cy="233172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2700">
            <a:solidFill>
              <a:srgbClr val="D3D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3188" y="1700784"/>
            <a:ext cx="3506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ADC clock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3188" y="2029968"/>
            <a:ext cx="3506724" cy="384048"/>
          </a:xfrm>
          <a:prstGeom prst="roundRect">
            <a:avLst>
              <a:gd name="adj" fmla="val 9524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3188" y="2029968"/>
            <a:ext cx="3506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ADCSRA = (ADCSRA &amp; 0xF8) | 0x05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3188" y="2514600"/>
            <a:ext cx="35067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ADC prescaler to ÷32, cutting a conversion to ~26 µs.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 the loop to sample at 8 kHz and still run RMS + refresh the display.</a:t>
            </a:r>
            <a:endParaRPr lang="en-US" sz="115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B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accuracy trade-off, negligible for a level meter.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E27D3EE-B3B4-6BAA-D678-766BEA46056D}"/>
              </a:ext>
            </a:extLst>
          </p:cNvPr>
          <p:cNvSpPr/>
          <p:nvPr/>
        </p:nvSpPr>
        <p:spPr>
          <a:xfrm>
            <a:off x="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A512A5-4A3D-6775-C1B7-73CDF5DD4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594" y="4539997"/>
            <a:ext cx="212840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263F"/>
          </a:solidFill>
          <a:ln w="12700">
            <a:solidFill>
              <a:srgbClr val="0026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7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RMS meter, end to end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7512" y="175564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86968" y="14630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RMS bar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Louder sound → more LEDs, refreshed every 25 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19472" y="175564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38928" y="14630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shortage solved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cascaded 74HC595s turn 3 pins into 16 outputs.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7512" y="285292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86968" y="25603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level signal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Fixed-point DC-removing high-pass + O(1) sliding-window RMS.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19472" y="285292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38928" y="25603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&amp; robust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sensitivity control, peak-hold-with-decay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7512" y="395020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6968" y="3657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Debuggable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Web-Serial monitor mirrors the bar and flags mic health.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004479"/>
          </a:solidFill>
          <a:ln w="12700">
            <a:solidFill>
              <a:srgbClr val="0A51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19472" y="395020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7900"/>
          </a:solidFill>
          <a:ln w="12700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38928" y="3657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timing
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cs typeface="Arial" pitchFamily="34" charset="-120"/>
              </a:rPr>
              <a:t>No</a:t>
            </a:r>
            <a:r>
              <a:rPr lang="en-US" sz="11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n-blocking firmware ; no delay() anywhere.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RMS Display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1265</Words>
  <Application>Microsoft Office PowerPoint</Application>
  <PresentationFormat>On-screen Show (16:9)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RMS Display</dc:title>
  <dc:subject>PptxGenJS Presentation</dc:subject>
  <dc:creator>Adideb Das, Solomia Serant</dc:creator>
  <cp:lastModifiedBy>Adideb Das</cp:lastModifiedBy>
  <cp:revision>26</cp:revision>
  <dcterms:created xsi:type="dcterms:W3CDTF">2026-07-02T19:47:47Z</dcterms:created>
  <dcterms:modified xsi:type="dcterms:W3CDTF">2026-07-23T02:12:06Z</dcterms:modified>
</cp:coreProperties>
</file>